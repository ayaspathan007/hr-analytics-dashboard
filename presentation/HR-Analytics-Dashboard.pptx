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erif Thin"/>
      <p:regular r:id="rId201314"/>
    </p:embeddedFont>
    <p:embeddedFont>
      <p:font typeface="Noto Serif ExtraLight"/>
      <p:regular r:id="rId201315"/>
    </p:embeddedFont>
    <p:embeddedFont>
      <p:font typeface="Noto Serif ExtraBold"/>
      <p:regular r:id="rId201316"/>
    </p:embeddedFont>
    <p:embeddedFont>
      <p:font typeface="Noto Serif Black"/>
      <p:regular r:id="rId201317"/>
    </p:embeddedFont>
    <p:embeddedFont>
      <p:font typeface="Noto Serif Light"/>
      <p:regular r:id="rId201318"/>
    </p:embeddedFont>
    <p:embeddedFont>
      <p:font typeface="Noto Serif"/>
      <p:regular r:id="rId201319"/>
    </p:embeddedFont>
    <p:embeddedFont>
      <p:font typeface="Noto Serif Medium"/>
      <p:regular r:id="rId201320"/>
    </p:embeddedFont>
    <p:embeddedFont>
      <p:font typeface="Noto Serif SemiBold"/>
      <p:regular r:id="rId201321"/>
    </p:embeddedFont>
    <p:embeddedFont>
      <p:font typeface="Noto Serif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9.png"/><Relationship Id="rId12" Type="http://schemas.openxmlformats.org/officeDocument/2006/relationships/image" Target="../media/image-2-10.sv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6.png"/><Relationship Id="rId9" Type="http://schemas.openxmlformats.org/officeDocument/2006/relationships/image" Target="../media/image-7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5683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HR Analytics Dashboard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902791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Transforming Workforce Data into Strategic Decisions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1282675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Prepared for Executive Leadership | HR Director · CEO · Business Managers · Recruiters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1819126"/>
            <a:ext cx="4722763" cy="2858691"/>
          </a:xfrm>
          <a:prstGeom prst="roundRect">
            <a:avLst>
              <a:gd name="adj" fmla="val 651"/>
            </a:avLst>
          </a:prstGeom>
          <a:solidFill>
            <a:srgbClr val="5F5153"/>
          </a:solidFill>
          <a:ln/>
        </p:spPr>
      </p:sp>
      <p:sp>
        <p:nvSpPr>
          <p:cNvPr id="7" name="Shape 4"/>
          <p:cNvSpPr/>
          <p:nvPr/>
        </p:nvSpPr>
        <p:spPr>
          <a:xfrm>
            <a:off x="3925119" y="1819126"/>
            <a:ext cx="4722763" cy="714673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4049092" y="1943100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406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49092" y="2211363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Total Employees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533799"/>
            <a:ext cx="4722763" cy="714673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1" name="Shape 8"/>
          <p:cNvSpPr/>
          <p:nvPr/>
        </p:nvSpPr>
        <p:spPr>
          <a:xfrm>
            <a:off x="3925119" y="2533799"/>
            <a:ext cx="4722763" cy="14288"/>
          </a:xfrm>
          <a:prstGeom prst="roundRect">
            <a:avLst>
              <a:gd name="adj" fmla="val 130228"/>
            </a:avLst>
          </a:prstGeom>
          <a:solidFill>
            <a:srgbClr val="786A6C"/>
          </a:solidFill>
          <a:ln/>
        </p:spPr>
      </p:sp>
      <p:sp>
        <p:nvSpPr>
          <p:cNvPr id="12" name="Text 9"/>
          <p:cNvSpPr/>
          <p:nvPr/>
        </p:nvSpPr>
        <p:spPr>
          <a:xfrm>
            <a:off x="4049092" y="2657773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20.7%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49092" y="2926035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Attrition Rate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248471"/>
            <a:ext cx="4722763" cy="714673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5" name="Shape 12"/>
          <p:cNvSpPr/>
          <p:nvPr/>
        </p:nvSpPr>
        <p:spPr>
          <a:xfrm>
            <a:off x="3925119" y="3248471"/>
            <a:ext cx="4722763" cy="14288"/>
          </a:xfrm>
          <a:prstGeom prst="roundRect">
            <a:avLst>
              <a:gd name="adj" fmla="val 130228"/>
            </a:avLst>
          </a:prstGeom>
          <a:solidFill>
            <a:srgbClr val="786A6C"/>
          </a:solidFill>
          <a:ln/>
        </p:spPr>
      </p:sp>
      <p:sp>
        <p:nvSpPr>
          <p:cNvPr id="16" name="Text 13"/>
          <p:cNvSpPr/>
          <p:nvPr/>
        </p:nvSpPr>
        <p:spPr>
          <a:xfrm>
            <a:off x="4049092" y="3372445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322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49092" y="3640708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Active Workforce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925119" y="3963144"/>
            <a:ext cx="4722763" cy="714673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19" name="Shape 16"/>
          <p:cNvSpPr/>
          <p:nvPr/>
        </p:nvSpPr>
        <p:spPr>
          <a:xfrm>
            <a:off x="3925119" y="3963144"/>
            <a:ext cx="4722763" cy="14288"/>
          </a:xfrm>
          <a:prstGeom prst="roundRect">
            <a:avLst>
              <a:gd name="adj" fmla="val 130228"/>
            </a:avLst>
          </a:prstGeom>
          <a:solidFill>
            <a:srgbClr val="786A6C"/>
          </a:solidFill>
          <a:ln/>
        </p:spPr>
      </p:sp>
      <p:sp>
        <p:nvSpPr>
          <p:cNvPr id="20" name="Text 17"/>
          <p:cNvSpPr/>
          <p:nvPr/>
        </p:nvSpPr>
        <p:spPr>
          <a:xfrm>
            <a:off x="4049092" y="4087118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5.23 Yrs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049092" y="4355381"/>
            <a:ext cx="447481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Avg Experience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0702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Business Problem: Why HR Data Matters Now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728365"/>
            <a:ext cx="81517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Six forces creating a talent crisis — and why the status quo is no longer viable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3565" y="1008608"/>
            <a:ext cx="4098057" cy="3310161"/>
          </a:xfrm>
          <a:prstGeom prst="roundRect">
            <a:avLst>
              <a:gd name="adj" fmla="val 457"/>
            </a:avLst>
          </a:prstGeom>
          <a:solidFill>
            <a:srgbClr val="0D0D09"/>
          </a:solidFill>
          <a:ln/>
        </p:spPr>
      </p:sp>
      <p:sp>
        <p:nvSpPr>
          <p:cNvPr id="5" name="Text 3"/>
          <p:cNvSpPr/>
          <p:nvPr/>
        </p:nvSpPr>
        <p:spPr>
          <a:xfrm>
            <a:off x="524321" y="1090464"/>
            <a:ext cx="38965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Cost of Inaction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321" y="1340048"/>
            <a:ext cx="3896544" cy="907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6516" y="1455093"/>
            <a:ext cx="360930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High Attrition Costs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96516" y="1694408"/>
            <a:ext cx="360930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Replacing one employee costs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50–200% of their annual salary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unplanned exits drain budgets and strip the organization of institutional knowledge built over years.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321" y="2329532"/>
            <a:ext cx="3896544" cy="907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6516" y="2444576"/>
            <a:ext cx="360930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Low Job Satisfaction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96516" y="2683892"/>
            <a:ext cx="360930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Disengaged employees are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18% less productive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and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3× more likely to leave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within 12 months. Satisfaction is a leading indicator — not a lagging one.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321" y="3319016"/>
            <a:ext cx="3896544" cy="907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6516" y="3434060"/>
            <a:ext cx="360930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Reactive Hiring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96516" y="3673376"/>
            <a:ext cx="3609305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Without predictive data, HR teams scramble to fill roles. Average time-to-hire stretches to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42 days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costing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$4,700+ per hire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 direct and indirect expenses.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699695" y="1090464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Structural Blind Spots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695" y="1340048"/>
            <a:ext cx="3952949" cy="7615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71889" y="1455093"/>
            <a:ext cx="36657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Poor Workforce Planning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871889" y="1694408"/>
            <a:ext cx="3665711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Siloed data across departments prevents leadership from seeing headcount gaps, skill shortages, or succession risks until the damage is already done.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695" y="2183457"/>
            <a:ext cx="3952949" cy="9076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71889" y="2298502"/>
            <a:ext cx="36657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Lack of HR Visibility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871889" y="2537817"/>
            <a:ext cx="3665711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Excel reports delay decisions by weeks. Leadership acts on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stale data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not real-time intelligence — a critical handicap in competitive talent markets.</a:t>
            </a:r>
            <a:endParaRPr lang="en-US" sz="7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695" y="3172941"/>
            <a:ext cx="3952949" cy="90762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71889" y="3287985"/>
            <a:ext cx="36657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Early Warning System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4871889" y="3527301"/>
            <a:ext cx="3665711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Without attrition signals, organizations lose top performers before retention interventions can be deployed.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Prevention costs a fraction of replacement.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496119" y="4410894"/>
            <a:ext cx="8151763" cy="351904"/>
          </a:xfrm>
          <a:prstGeom prst="roundRect">
            <a:avLst>
              <a:gd name="adj" fmla="val 4296"/>
            </a:avLst>
          </a:prstGeom>
          <a:solidFill>
            <a:srgbClr val="4B3F0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875" y="4548634"/>
            <a:ext cx="125983" cy="10075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23615" y="4517901"/>
            <a:ext cx="818071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At a 20.7% attrition rate — 38% above industry benchmark — inaction compounds talent loss quarter over quarter. Executive intervention is required now.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1280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Overview: Building the HR Analytics Engine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708943"/>
            <a:ext cx="815176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One source of truth replacing 10+ manual reports — built for executive-grade decision-making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081311"/>
            <a:ext cx="4372794" cy="732979"/>
          </a:xfrm>
          <a:prstGeom prst="roundRect">
            <a:avLst>
              <a:gd name="adj" fmla="val 2063"/>
            </a:avLst>
          </a:prstGeom>
          <a:solidFill>
            <a:srgbClr val="5F5153"/>
          </a:solidFill>
          <a:ln/>
        </p:spPr>
      </p:sp>
      <p:sp>
        <p:nvSpPr>
          <p:cNvPr id="5" name="Text 3"/>
          <p:cNvSpPr/>
          <p:nvPr/>
        </p:nvSpPr>
        <p:spPr>
          <a:xfrm>
            <a:off x="596875" y="1182067"/>
            <a:ext cx="417128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Objective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6875" y="1421383"/>
            <a:ext cx="4171280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Develop an interactive, executive-grade HR Analytics Dashboard to monitor workforce health in real time across all departments and employee cohorts.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96119" y="1896145"/>
            <a:ext cx="4372794" cy="732979"/>
          </a:xfrm>
          <a:prstGeom prst="roundRect">
            <a:avLst>
              <a:gd name="adj" fmla="val 2063"/>
            </a:avLst>
          </a:prstGeom>
          <a:solidFill>
            <a:srgbClr val="5F5153"/>
          </a:solidFill>
          <a:ln/>
        </p:spPr>
      </p:sp>
      <p:sp>
        <p:nvSpPr>
          <p:cNvPr id="8" name="Text 6"/>
          <p:cNvSpPr/>
          <p:nvPr/>
        </p:nvSpPr>
        <p:spPr>
          <a:xfrm>
            <a:off x="596875" y="1996901"/>
            <a:ext cx="417128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Scope of Monitoring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6875" y="2236217"/>
            <a:ext cx="4171280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Employee Count · Attrition Rate · Department Performance · Demographics · Salary Analysis · Workforce Trends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6119" y="2710979"/>
            <a:ext cx="4372794" cy="732979"/>
          </a:xfrm>
          <a:prstGeom prst="roundRect">
            <a:avLst>
              <a:gd name="adj" fmla="val 2063"/>
            </a:avLst>
          </a:prstGeom>
          <a:solidFill>
            <a:srgbClr val="5F5153"/>
          </a:solidFill>
          <a:ln/>
        </p:spPr>
      </p:sp>
      <p:sp>
        <p:nvSpPr>
          <p:cNvPr id="11" name="Text 9"/>
          <p:cNvSpPr/>
          <p:nvPr/>
        </p:nvSpPr>
        <p:spPr>
          <a:xfrm>
            <a:off x="596875" y="2811735"/>
            <a:ext cx="417128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Outcome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6875" y="3051051"/>
            <a:ext cx="4171280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single source of truth for HR leadership — replacing </a:t>
            </a:r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10+ manual reports</a:t>
            </a:r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one live dashboard refreshed automatically.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46985" y="989186"/>
            <a:ext cx="3678138" cy="3793034"/>
          </a:xfrm>
          <a:prstGeom prst="roundRect">
            <a:avLst>
              <a:gd name="adj" fmla="val 411"/>
            </a:avLst>
          </a:prstGeom>
          <a:solidFill>
            <a:srgbClr val="0D0D09"/>
          </a:solidFill>
          <a:ln/>
        </p:spPr>
      </p:sp>
      <p:sp>
        <p:nvSpPr>
          <p:cNvPr id="14" name="Text 12"/>
          <p:cNvSpPr/>
          <p:nvPr/>
        </p:nvSpPr>
        <p:spPr>
          <a:xfrm>
            <a:off x="5147742" y="1071042"/>
            <a:ext cx="34766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7742" y="1333202"/>
            <a:ext cx="100757" cy="10075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147742" y="1477566"/>
            <a:ext cx="3476625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7" name="Text 14"/>
          <p:cNvSpPr/>
          <p:nvPr/>
        </p:nvSpPr>
        <p:spPr>
          <a:xfrm>
            <a:off x="5147742" y="1556519"/>
            <a:ext cx="34766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47742" y="1795835"/>
            <a:ext cx="34766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Interactive dashboards, drill-through reports, real-time visuals</a:t>
            </a:r>
            <a:endParaRPr lang="en-US" sz="7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7742" y="2111871"/>
            <a:ext cx="100757" cy="100757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147742" y="2256234"/>
            <a:ext cx="3476625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1" name="Text 17"/>
          <p:cNvSpPr/>
          <p:nvPr/>
        </p:nvSpPr>
        <p:spPr>
          <a:xfrm>
            <a:off x="5147742" y="2335188"/>
            <a:ext cx="34766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SQL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147742" y="2574503"/>
            <a:ext cx="3476625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extraction, transformation, and relational queries across HR systems</a:t>
            </a:r>
            <a:endParaRPr lang="en-US" sz="7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7742" y="3036615"/>
            <a:ext cx="100757" cy="100757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147742" y="3180978"/>
            <a:ext cx="3476625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5" name="Text 20"/>
          <p:cNvSpPr/>
          <p:nvPr/>
        </p:nvSpPr>
        <p:spPr>
          <a:xfrm>
            <a:off x="5147742" y="3259931"/>
            <a:ext cx="34766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Excel + Power Query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147742" y="3499247"/>
            <a:ext cx="34766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 data management, pivot analysis, and automated ETL pipeline</a:t>
            </a:r>
            <a:endParaRPr lang="en-US" sz="7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7742" y="3815283"/>
            <a:ext cx="100757" cy="100757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147742" y="3959647"/>
            <a:ext cx="3476625" cy="14288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29" name="Text 23"/>
          <p:cNvSpPr/>
          <p:nvPr/>
        </p:nvSpPr>
        <p:spPr>
          <a:xfrm>
            <a:off x="5147742" y="4038600"/>
            <a:ext cx="34766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DAX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147742" y="4277916"/>
            <a:ext cx="34766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 KPI calculations — attrition rate, avg. tenure, salary bands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5147742" y="4591645"/>
            <a:ext cx="3933825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Stakeholders:</a:t>
            </a:r>
            <a:pPr algn="l" indent="0" marL="0">
              <a:lnSpc>
                <a:spcPct val="121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HR Director, CEO, Department Heads, Talent Acquisition, Finance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7159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Dashboard KPIs: The Six Numbers That Drive Decisions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707529"/>
            <a:ext cx="815176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Every strategic workforce decision anchors to these six metrics — know them, act on them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029444"/>
            <a:ext cx="402661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406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464097"/>
            <a:ext cx="402661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Total Employees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1665759"/>
            <a:ext cx="4026619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organizational headcount baseline; benchmarks all workforce ratios and capacity planning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21188" y="1029444"/>
            <a:ext cx="402669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322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621188" y="1464097"/>
            <a:ext cx="402669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Active Employees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21188" y="1665759"/>
            <a:ext cx="402669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Current productive workforce; gap vs. total (84) signals immediate hiring or retention urgency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6119" y="2156817"/>
            <a:ext cx="402661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84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96119" y="2591470"/>
            <a:ext cx="402661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Attrition Count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2793132"/>
            <a:ext cx="4026619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Employees who exited; each departure = lost productivity, knowledge, and recruitment cost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21188" y="2156817"/>
            <a:ext cx="402669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20.7%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621188" y="2591470"/>
            <a:ext cx="402669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Attrition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21188" y="2793132"/>
            <a:ext cx="402669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Critically above industry benchmark of 10–15%; every 1% reduction saves ~$200K+ in replacement costs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6119" y="3284190"/>
            <a:ext cx="4026619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28.94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496119" y="3718843"/>
            <a:ext cx="402661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Average 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119" y="3920505"/>
            <a:ext cx="4026619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Young workforce signals high growth potential but elevated flight risk — Gen Z and Millennial retention strategies are essential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21188" y="3284190"/>
            <a:ext cx="402669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5.23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4621188" y="3718843"/>
            <a:ext cx="402669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Avg Experience (Yrs)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1188" y="3920505"/>
            <a:ext cx="402669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Mid-early career profile; most vulnerable to poaching — targeted L&amp;D and career pathing are critical retention levers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6119" y="4293171"/>
            <a:ext cx="8151763" cy="483096"/>
          </a:xfrm>
          <a:prstGeom prst="roundRect">
            <a:avLst>
              <a:gd name="adj" fmla="val 3069"/>
            </a:avLst>
          </a:prstGeom>
          <a:solidFill>
            <a:srgbClr val="5C352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40" y="4425479"/>
            <a:ext cx="123527" cy="9882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7290" y="4396606"/>
            <a:ext cx="7731770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Benchmark Alert:</a:t>
            </a:r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 attrition rate of 20.7% is 38% above the industry norm of 10–15%. At current trajectory, the organization risks losing 1 in 5 employees every year — a compounding talent debt.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Department Analysis: Where the Workforce Lives and Leaves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47315"/>
            <a:ext cx="815176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Attrition is not an organization-wide problem — it is concentrated in three departments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90711"/>
            <a:ext cx="8151763" cy="45649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5325294"/>
            <a:ext cx="1984623" cy="479599"/>
          </a:xfrm>
          <a:prstGeom prst="roundRect">
            <a:avLst>
              <a:gd name="adj" fmla="val 1940"/>
            </a:avLst>
          </a:prstGeom>
          <a:solidFill>
            <a:srgbClr val="5F5153"/>
          </a:solidFill>
          <a:ln/>
        </p:spPr>
      </p:sp>
      <p:sp>
        <p:nvSpPr>
          <p:cNvPr id="6" name="Text 3"/>
          <p:cNvSpPr/>
          <p:nvPr/>
        </p:nvSpPr>
        <p:spPr>
          <a:xfrm>
            <a:off x="558105" y="5387280"/>
            <a:ext cx="1860649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Administration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58105" y="5519886"/>
            <a:ext cx="186064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Highest attrition despite mid-range headcount. Immediate engagement programs and role clarity reviews required.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2511698" y="5325294"/>
            <a:ext cx="1984697" cy="479599"/>
          </a:xfrm>
          <a:prstGeom prst="roundRect">
            <a:avLst>
              <a:gd name="adj" fmla="val 1940"/>
            </a:avLst>
          </a:prstGeom>
          <a:solidFill>
            <a:srgbClr val="5F5153"/>
          </a:solidFill>
          <a:ln/>
        </p:spPr>
      </p:sp>
      <p:sp>
        <p:nvSpPr>
          <p:cNvPr id="9" name="Text 6"/>
          <p:cNvSpPr/>
          <p:nvPr/>
        </p:nvSpPr>
        <p:spPr>
          <a:xfrm>
            <a:off x="2573685" y="5387280"/>
            <a:ext cx="1860724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Sales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573685" y="5519886"/>
            <a:ext cx="1860724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Performance pressure and variable compensation drive exits. Recommend commission restructuring and recognition programs.</a:t>
            </a:r>
            <a:endParaRPr lang="en-US" sz="450" dirty="0"/>
          </a:p>
        </p:txBody>
      </p:sp>
      <p:sp>
        <p:nvSpPr>
          <p:cNvPr id="11" name="Shape 8"/>
          <p:cNvSpPr/>
          <p:nvPr/>
        </p:nvSpPr>
        <p:spPr>
          <a:xfrm>
            <a:off x="496119" y="5835848"/>
            <a:ext cx="4000277" cy="330919"/>
          </a:xfrm>
          <a:prstGeom prst="roundRect">
            <a:avLst>
              <a:gd name="adj" fmla="val 2811"/>
            </a:avLst>
          </a:prstGeom>
          <a:solidFill>
            <a:srgbClr val="5F5153"/>
          </a:solidFill>
          <a:ln/>
        </p:spPr>
      </p:sp>
      <p:sp>
        <p:nvSpPr>
          <p:cNvPr id="12" name="Text 9"/>
          <p:cNvSpPr/>
          <p:nvPr/>
        </p:nvSpPr>
        <p:spPr>
          <a:xfrm>
            <a:off x="558105" y="5897835"/>
            <a:ext cx="3876303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IT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58105" y="6030441"/>
            <a:ext cx="387630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Competitive external market drives poaching risk. Counter with career development tracks and remote flexibility.</a:t>
            </a:r>
            <a:endParaRPr lang="en-US" sz="450" dirty="0"/>
          </a:p>
        </p:txBody>
      </p:sp>
      <p:sp>
        <p:nvSpPr>
          <p:cNvPr id="14" name="Shape 11"/>
          <p:cNvSpPr/>
          <p:nvPr/>
        </p:nvSpPr>
        <p:spPr>
          <a:xfrm>
            <a:off x="4652367" y="5325294"/>
            <a:ext cx="1984623" cy="405259"/>
          </a:xfrm>
          <a:prstGeom prst="roundRect">
            <a:avLst>
              <a:gd name="adj" fmla="val 2296"/>
            </a:avLst>
          </a:prstGeom>
          <a:solidFill>
            <a:srgbClr val="5F5153"/>
          </a:solidFill>
          <a:ln/>
        </p:spPr>
      </p:sp>
      <p:sp>
        <p:nvSpPr>
          <p:cNvPr id="15" name="Text 12"/>
          <p:cNvSpPr/>
          <p:nvPr/>
        </p:nvSpPr>
        <p:spPr>
          <a:xfrm>
            <a:off x="4714354" y="5387280"/>
            <a:ext cx="1860649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Finance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714354" y="5519886"/>
            <a:ext cx="186064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Stable workforce. Focus on succession planning for senior roles nearing retirement eligibility.</a:t>
            </a:r>
            <a:endParaRPr lang="en-US" sz="450" dirty="0"/>
          </a:p>
        </p:txBody>
      </p:sp>
      <p:sp>
        <p:nvSpPr>
          <p:cNvPr id="17" name="Shape 14"/>
          <p:cNvSpPr/>
          <p:nvPr/>
        </p:nvSpPr>
        <p:spPr>
          <a:xfrm>
            <a:off x="6667946" y="5325294"/>
            <a:ext cx="1984697" cy="405259"/>
          </a:xfrm>
          <a:prstGeom prst="roundRect">
            <a:avLst>
              <a:gd name="adj" fmla="val 2296"/>
            </a:avLst>
          </a:prstGeom>
          <a:solidFill>
            <a:srgbClr val="5F5153"/>
          </a:solidFill>
          <a:ln/>
        </p:spPr>
      </p:sp>
      <p:sp>
        <p:nvSpPr>
          <p:cNvPr id="18" name="Text 15"/>
          <p:cNvSpPr/>
          <p:nvPr/>
        </p:nvSpPr>
        <p:spPr>
          <a:xfrm>
            <a:off x="6729933" y="5387280"/>
            <a:ext cx="1860724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HR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729933" y="5519886"/>
            <a:ext cx="186072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 attrition — strong internal culture signal. Leverage HR team as change champions for org-wide initiatives.</a:t>
            </a:r>
            <a:endParaRPr lang="en-US" sz="450" dirty="0"/>
          </a:p>
        </p:txBody>
      </p:sp>
      <p:sp>
        <p:nvSpPr>
          <p:cNvPr id="20" name="Shape 17"/>
          <p:cNvSpPr/>
          <p:nvPr/>
        </p:nvSpPr>
        <p:spPr>
          <a:xfrm>
            <a:off x="4652367" y="5761509"/>
            <a:ext cx="4000277" cy="330919"/>
          </a:xfrm>
          <a:prstGeom prst="roundRect">
            <a:avLst>
              <a:gd name="adj" fmla="val 2811"/>
            </a:avLst>
          </a:prstGeom>
          <a:solidFill>
            <a:srgbClr val="5F5153"/>
          </a:solidFill>
          <a:ln/>
        </p:spPr>
      </p:sp>
      <p:sp>
        <p:nvSpPr>
          <p:cNvPr id="21" name="Text 18"/>
          <p:cNvSpPr/>
          <p:nvPr/>
        </p:nvSpPr>
        <p:spPr>
          <a:xfrm>
            <a:off x="4714354" y="5823496"/>
            <a:ext cx="3876303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Operations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714354" y="5956102"/>
            <a:ext cx="387630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Largest workforce. Scale demands standardized HR processes and proactive engagement to contain attrition creep.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Employee Demographics: Know Your Workforce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47315"/>
            <a:ext cx="815176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Demographics define risk — the 26–35 cohort is your largest asset and your most mobile talent pool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721668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 Distribution Insight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6119" y="849511"/>
            <a:ext cx="4000277" cy="32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majority of employees fall in the </a:t>
            </a:r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26–35 age band</a:t>
            </a:r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a high-ambition, high-mobility cohort. Without clear career progression paths, this group will self-select out within 18–24 months of stagnation.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Average age of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28.94 years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signals a young, energetic workforce. High adaptability comes paired with high turnover risk unless structured growth opportunities are consistently visible.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496119" y="1290638"/>
            <a:ext cx="198075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Hiring Strategy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96119" y="1418481"/>
            <a:ext cx="198075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 age-aligned sourcing channels — LinkedIn, campus recruitment, and diversity pipelines to replenish the 26–30 cohort.</a:t>
            </a:r>
            <a:endParaRPr lang="en-US" sz="450" dirty="0"/>
          </a:p>
        </p:txBody>
      </p:sp>
      <p:sp>
        <p:nvSpPr>
          <p:cNvPr id="8" name="Shape 6"/>
          <p:cNvSpPr/>
          <p:nvPr/>
        </p:nvSpPr>
        <p:spPr>
          <a:xfrm>
            <a:off x="486594" y="1209601"/>
            <a:ext cx="1999804" cy="1905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9" name="Text 7"/>
          <p:cNvSpPr/>
          <p:nvPr/>
        </p:nvSpPr>
        <p:spPr>
          <a:xfrm>
            <a:off x="2515567" y="1290638"/>
            <a:ext cx="198082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Succession Planning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15567" y="1418481"/>
            <a:ext cx="1980828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Identify high-potential employees in the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30–40 age band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leadership development tracks before they exit to competitors.</a:t>
            </a:r>
            <a:endParaRPr lang="en-US" sz="450" dirty="0"/>
          </a:p>
        </p:txBody>
      </p:sp>
      <p:sp>
        <p:nvSpPr>
          <p:cNvPr id="11" name="Shape 9"/>
          <p:cNvSpPr/>
          <p:nvPr/>
        </p:nvSpPr>
        <p:spPr>
          <a:xfrm>
            <a:off x="2506042" y="1209601"/>
            <a:ext cx="1999878" cy="1905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1710184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Retention Milestones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96119" y="1838027"/>
            <a:ext cx="400027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Design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tenure-based milestone recognition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at 1, 3, and 5 years to reduce mid-career exits at the critical decision points.</a:t>
            </a:r>
            <a:endParaRPr lang="en-US" sz="450" dirty="0"/>
          </a:p>
        </p:txBody>
      </p:sp>
      <p:sp>
        <p:nvSpPr>
          <p:cNvPr id="14" name="Shape 12"/>
          <p:cNvSpPr/>
          <p:nvPr/>
        </p:nvSpPr>
        <p:spPr>
          <a:xfrm>
            <a:off x="486594" y="1629147"/>
            <a:ext cx="4019327" cy="1905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7719" y="690711"/>
            <a:ext cx="4089574" cy="4260949"/>
          </a:xfrm>
          <a:prstGeom prst="roundRect">
            <a:avLst>
              <a:gd name="adj" fmla="val 227"/>
            </a:avLst>
          </a:prstGeom>
          <a:solidFill>
            <a:srgbClr val="0D0D0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9706" y="721668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Gender &amp; Experience Patterns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69706" y="849511"/>
            <a:ext cx="3965600" cy="32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F4E8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Gender Distribution:</a:t>
            </a:r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Slight male majority across the organization. Female employees show higher exit rates in Administration and Sales — a clear signal of inclusion gaps requiring immediate structural review.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4E8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Experience Concentration: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 3–7 year tenure band is the most densely populated — and the most dangerous. This is the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"mid-career danger zone"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where employees reassess trajectories and are most recruitable by competitors.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6271022" y="1612702"/>
            <a:ext cx="762819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62%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7306" y="1225079"/>
            <a:ext cx="930325" cy="93032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669706" y="2201838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Male Workforce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669706" y="2329681"/>
            <a:ext cx="3965600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Slight majority; monitor gender-split attrition by department</a:t>
            </a:r>
            <a:endParaRPr lang="en-US" sz="450" dirty="0"/>
          </a:p>
        </p:txBody>
      </p:sp>
      <p:sp>
        <p:nvSpPr>
          <p:cNvPr id="22" name="Text 19"/>
          <p:cNvSpPr/>
          <p:nvPr/>
        </p:nvSpPr>
        <p:spPr>
          <a:xfrm>
            <a:off x="6271022" y="2869109"/>
            <a:ext cx="762819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38%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306" y="2481486"/>
            <a:ext cx="930325" cy="9303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69706" y="3458245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Female Workforce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4669706" y="3586088"/>
            <a:ext cx="3965600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Higher exit rate in Admin and Sales — inclusion programs needed</a:t>
            </a:r>
            <a:endParaRPr lang="en-US" sz="450" dirty="0"/>
          </a:p>
        </p:txBody>
      </p:sp>
      <p:sp>
        <p:nvSpPr>
          <p:cNvPr id="26" name="Text 22"/>
          <p:cNvSpPr/>
          <p:nvPr/>
        </p:nvSpPr>
        <p:spPr>
          <a:xfrm>
            <a:off x="6271022" y="4125516"/>
            <a:ext cx="762819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55%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306" y="3737893"/>
            <a:ext cx="930325" cy="93032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69706" y="4714652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3–7 Year Tenure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4669706" y="4842495"/>
            <a:ext cx="3965600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Peak vulnerability band — career plateau triggers external search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999"/>
            <a:ext cx="8151763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Attrition Analysis: Decoding Why Employees Leave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766688"/>
            <a:ext cx="8151763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Lower salary + low satisfaction = highest attrition risk — the data leaves no ambiguity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73584"/>
            <a:ext cx="4366468" cy="29967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273302"/>
            <a:ext cx="4366468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Employees earning </a:t>
            </a:r>
            <a:pPr algn="l" indent="0" marL="0">
              <a:lnSpc>
                <a:spcPct val="124000"/>
              </a:lnSpc>
              <a:buNone/>
            </a:pPr>
            <a:r>
              <a:rPr lang="en-US" sz="6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below 6 LPA account for 79% of all attrition</a:t>
            </a:r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(66 of 84 exits). Compensation is the #1 exit driver — salary benchmarking against market rates is urgent. Note: LPA = Lakhs Per Annum; data reflects estimated proportions from dashboard visuals.</a:t>
            </a:r>
            <a:endParaRPr lang="en-US" sz="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7352" y="1173584"/>
            <a:ext cx="1716807" cy="1609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5351" y="1294433"/>
            <a:ext cx="141796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By Experience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305351" y="1552575"/>
            <a:ext cx="1417960" cy="111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Mid-level employees with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3–7 years' tenure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show peak attrition. The "5-year cliff" — where career stagnation triggers active job searches — is real and measurable.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5763" y="1173584"/>
            <a:ext cx="1716881" cy="16098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13761" y="1294433"/>
            <a:ext cx="1418034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By Job Satisfaction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113761" y="1552575"/>
            <a:ext cx="1418034" cy="111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Employees rating satisfaction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1–2 out of 4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are 3× more likely to leave. Satisfaction scores are a leading indicator — act before resignations, not after.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7352" y="2875062"/>
            <a:ext cx="1716807" cy="1768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5351" y="2995910"/>
            <a:ext cx="141796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By Job Role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305351" y="3254053"/>
            <a:ext cx="1417960" cy="1268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Roles including Sales Executive and Lab Technician show disproportionately high turnover. </a:t>
            </a:r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Role-specific retention plans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are more cost-effective than blanket programs.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5763" y="2875062"/>
            <a:ext cx="1716881" cy="1768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13761" y="2995910"/>
            <a:ext cx="1418034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Predictability Factor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7113761" y="3254053"/>
            <a:ext cx="1418034" cy="111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80% of exits show 3+ warning signals</a:t>
            </a:r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6 months prior. Attrition is not random — it is predictable, preventable, and measurable with the right data infrastructure.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2488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Executive Insights: 10 Data-Driven Findings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722858"/>
            <a:ext cx="815176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Ten findings that demand executive attention — each backed by data, each linked to business impact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995362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5" name="Text 3"/>
          <p:cNvSpPr/>
          <p:nvPr/>
        </p:nvSpPr>
        <p:spPr>
          <a:xfrm>
            <a:off x="594940" y="1094184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Administration Leads Exits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940" y="1300609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~26% of all exits despite not being the largest department. Immediate targeted intervention required.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611365" y="995362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8" name="Text 6"/>
          <p:cNvSpPr/>
          <p:nvPr/>
        </p:nvSpPr>
        <p:spPr>
          <a:xfrm>
            <a:off x="4710187" y="1094184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Below-6 LPA = 3× Turnover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10187" y="1300609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Compensation gap is the single most actionable lever. 79% of attrition concentrated in lowest salary bands.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6119" y="1762274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11" name="Text 9"/>
          <p:cNvSpPr/>
          <p:nvPr/>
        </p:nvSpPr>
        <p:spPr>
          <a:xfrm>
            <a:off x="594940" y="1861096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26–35 Age Group Dominates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940" y="2067520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High-potential but high-flight-risk. Gen Z / Millennial retention is a strategic board-level priority.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11365" y="1762274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14" name="Text 12"/>
          <p:cNvSpPr/>
          <p:nvPr/>
        </p:nvSpPr>
        <p:spPr>
          <a:xfrm>
            <a:off x="4710187" y="1861096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😞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Satisfaction Predicts Exits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10187" y="2067520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Scores of 1–2 out of 4 correlate directly with resignation within 6 months. Act before it's too late.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6119" y="2529185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940" y="2628007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⚧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Gender Attrition Gaps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940" y="2834432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Female attrition higher in Administration and Sales. Inclusion and flexibility programs needed urgently.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11365" y="2529185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20" name="Text 18"/>
          <p:cNvSpPr/>
          <p:nvPr/>
        </p:nvSpPr>
        <p:spPr>
          <a:xfrm>
            <a:off x="4710187" y="2628007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Mid-Career Cliff at 5–7 Yrs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0187" y="2834432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Career plateau effect triggers external searches. Structured IDPs at this stage can retain top talent.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6119" y="3305919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940" y="3404741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Operations: Scale Risk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940" y="3611166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Largest workforce demands standardized HR processes and proactive engagement before attrition scales up.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11365" y="3305919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26" name="Text 24"/>
          <p:cNvSpPr/>
          <p:nvPr/>
        </p:nvSpPr>
        <p:spPr>
          <a:xfrm>
            <a:off x="4710187" y="3404741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Attrition is Concentrated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10187" y="3611166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 departments account for 70%+ of exits. Targeted fixes yield outsized ROI versus org-wide programs.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6119" y="4072830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29" name="Text 27"/>
          <p:cNvSpPr/>
          <p:nvPr/>
        </p:nvSpPr>
        <p:spPr>
          <a:xfrm>
            <a:off x="594940" y="4171652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5.23 Yrs: Retention Window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940" y="4378077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Structured 5-year career milestones at this average tenure can meaningfully extend retention curves.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11365" y="4072830"/>
            <a:ext cx="4036516" cy="688181"/>
          </a:xfrm>
          <a:prstGeom prst="roundRect">
            <a:avLst>
              <a:gd name="adj" fmla="val 2155"/>
            </a:avLst>
          </a:prstGeom>
          <a:solidFill>
            <a:srgbClr val="5F5153"/>
          </a:solidFill>
          <a:ln/>
        </p:spPr>
      </p:sp>
      <p:sp>
        <p:nvSpPr>
          <p:cNvPr id="32" name="Text 30"/>
          <p:cNvSpPr/>
          <p:nvPr/>
        </p:nvSpPr>
        <p:spPr>
          <a:xfrm>
            <a:off x="4710187" y="4171652"/>
            <a:ext cx="3838873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20.7%: 38% Above Benchmark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10187" y="4378077"/>
            <a:ext cx="383887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Industry norm is 10–15%. Compounding talent loss is underway. Immediate executive action required.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740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Strategic Recommendations: The 9-Point Retention Roadmap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634380"/>
            <a:ext cx="815176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 sequenced, measurable action plan to reduce attrition by 15–25% within 12 months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67238" y="828080"/>
            <a:ext cx="9525" cy="3656707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5" name="Shape 3"/>
          <p:cNvSpPr/>
          <p:nvPr/>
        </p:nvSpPr>
        <p:spPr>
          <a:xfrm>
            <a:off x="4261768" y="910530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6" name="Shape 4"/>
          <p:cNvSpPr/>
          <p:nvPr/>
        </p:nvSpPr>
        <p:spPr>
          <a:xfrm>
            <a:off x="4484787" y="828080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7" name="Text 5"/>
          <p:cNvSpPr/>
          <p:nvPr/>
        </p:nvSpPr>
        <p:spPr>
          <a:xfrm>
            <a:off x="4513883" y="84262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6119" y="854720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1. Salary Benchmarking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6119" y="1004813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Conduct market compensation analysis — bring below-6 LPA roles to competitive parity within Q1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649688" y="1317501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11" name="Shape 9"/>
          <p:cNvSpPr/>
          <p:nvPr/>
        </p:nvSpPr>
        <p:spPr>
          <a:xfrm>
            <a:off x="4484787" y="1235050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2" name="Text 10"/>
          <p:cNvSpPr/>
          <p:nvPr/>
        </p:nvSpPr>
        <p:spPr>
          <a:xfrm>
            <a:off x="4513883" y="124959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9623" y="1261690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2. Career Development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59623" y="1411784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Launch structured Individual Development Plans (IDPs) for all employees at 3–7 year tenure mark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261768" y="1689348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4787" y="1606897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7" name="Text 15"/>
          <p:cNvSpPr/>
          <p:nvPr/>
        </p:nvSpPr>
        <p:spPr>
          <a:xfrm>
            <a:off x="4513883" y="1621445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119" y="1633538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3. Pulse Surveys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6119" y="1783631"/>
            <a:ext cx="3688259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quarterly engagement surveys; act on results within 30 days to build trust and reduce silent attrition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649688" y="2061195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4787" y="1978744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22" name="Text 20"/>
          <p:cNvSpPr/>
          <p:nvPr/>
        </p:nvSpPr>
        <p:spPr>
          <a:xfrm>
            <a:off x="4513883" y="1993292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9623" y="2005385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4. L&amp;D Investment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59623" y="2155478"/>
            <a:ext cx="3688259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upskilling programs — employees with active L&amp;D access show 34% lower attrition (LinkedIn 2024)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261768" y="2433042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4787" y="2350591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27" name="Text 25"/>
          <p:cNvSpPr/>
          <p:nvPr/>
        </p:nvSpPr>
        <p:spPr>
          <a:xfrm>
            <a:off x="4513883" y="2365139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119" y="2377232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5. Recognition Programs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6119" y="2527325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Peer-to-peer and manager recognition platforms; milestone rewards at 1, 3, and 5 years of service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649688" y="2804889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4787" y="2722438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32" name="Text 30"/>
          <p:cNvSpPr/>
          <p:nvPr/>
        </p:nvSpPr>
        <p:spPr>
          <a:xfrm>
            <a:off x="4513883" y="2736986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9623" y="2749079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6. Employee Wellness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59623" y="2899172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Mental health support, flexible work arrangements, and Employee Assistance Programs (EAP)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61768" y="3176736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4787" y="3094286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37" name="Text 35"/>
          <p:cNvSpPr/>
          <p:nvPr/>
        </p:nvSpPr>
        <p:spPr>
          <a:xfrm>
            <a:off x="4513883" y="3108833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6119" y="3120926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7. Manager Training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6119" y="3271019"/>
            <a:ext cx="3688259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Train frontline managers on retention conversations — 70% of employee engagement is driven by direct managers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649688" y="3548583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41" name="Shape 39"/>
          <p:cNvSpPr/>
          <p:nvPr/>
        </p:nvSpPr>
        <p:spPr>
          <a:xfrm>
            <a:off x="4484787" y="3466133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42" name="Text 40"/>
          <p:cNvSpPr/>
          <p:nvPr/>
        </p:nvSpPr>
        <p:spPr>
          <a:xfrm>
            <a:off x="4513883" y="3480681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59623" y="3492773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8. Internal Mobility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59623" y="3642866"/>
            <a:ext cx="3688259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 visible internal job boards; prioritize internal candidates before external hiring to reduce cost-to-fill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4261768" y="3920430"/>
            <a:ext cx="232544" cy="9525"/>
          </a:xfrm>
          <a:prstGeom prst="roundRect">
            <a:avLst>
              <a:gd name="adj" fmla="val 122093"/>
            </a:avLst>
          </a:prstGeom>
          <a:solidFill>
            <a:srgbClr val="786A6C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4787" y="3837980"/>
            <a:ext cx="174427" cy="174427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47" name="Text 45"/>
          <p:cNvSpPr/>
          <p:nvPr/>
        </p:nvSpPr>
        <p:spPr>
          <a:xfrm>
            <a:off x="4513883" y="385252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6119" y="3864620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9. Predictive Monitoring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6119" y="4014713"/>
            <a:ext cx="3688259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ML-based attrition risk scoring in Power BI — flag at-risk employees 6 months before likely exit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96119" y="4539258"/>
            <a:ext cx="8151763" cy="231502"/>
          </a:xfrm>
          <a:prstGeom prst="roundRect">
            <a:avLst>
              <a:gd name="adj" fmla="val 5023"/>
            </a:avLst>
          </a:prstGeom>
          <a:solidFill>
            <a:srgbClr val="5C3523"/>
          </a:solidFill>
          <a:ln/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84" y="4639717"/>
            <a:ext cx="96887" cy="77465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747936" y="4607049"/>
            <a:ext cx="8279681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Implementation Sequence: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Steps 1–3 are immediate (0–90 days). Steps 4–6 are medium-term (Q2–Q3). Steps 7–9 are structural investments for sustained competitive advantage.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4670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Business Impact: Measurable Value from HR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737518"/>
            <a:ext cx="8151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For a 406-person organization at 20.7% attrition — the financial case for HR Analytics is undeniable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993353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15–25%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96119" y="1352029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Attrition Reduction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6119" y="1515814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Targeted retention programs in high-risk departments eliminate the most preventable exits first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606975" y="993353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20%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4606975" y="1352029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Retention Improvement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6975" y="1515814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Career development + compensation alignment extends average tenure by 1.5–2 years per employee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96119" y="1780952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18%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496119" y="2139628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Productivity Increase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6119" y="2303413"/>
            <a:ext cx="404090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Stable, engaged teams outperform high-turnover environments — reduced onboarding drag, stronger continuity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606975" y="1780952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15%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4606975" y="2139628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Hiring Cost Reduction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6975" y="2303413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Lower attrition + internal mobility reduces external recruitment spend and agency fees significantly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96119" y="2680022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25%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496119" y="3038698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Satisfaction Improvement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119" y="3202484"/>
            <a:ext cx="404090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Data-driven engagement interventions move satisfaction scores from reactive firefighting to proactive design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606975" y="2680022"/>
            <a:ext cx="404090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90%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4606975" y="3038698"/>
            <a:ext cx="404090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Faster HR Reporting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6975" y="3202484"/>
            <a:ext cx="404090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 BI dashboard replaces 10+ manual reports — HR decisions made in hours, not weeks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96119" y="3488382"/>
            <a:ext cx="9525" cy="584002"/>
          </a:xfrm>
          <a:prstGeom prst="roundRect">
            <a:avLst>
              <a:gd name="adj" fmla="val 60000"/>
            </a:avLst>
          </a:prstGeom>
          <a:solidFill>
            <a:srgbClr val="E2C2B3"/>
          </a:solidFill>
          <a:ln/>
        </p:spPr>
      </p:sp>
      <p:sp>
        <p:nvSpPr>
          <p:cNvPr id="23" name="Text 21"/>
          <p:cNvSpPr/>
          <p:nvPr/>
        </p:nvSpPr>
        <p:spPr>
          <a:xfrm>
            <a:off x="621134" y="3572321"/>
            <a:ext cx="80267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EE27D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$1.2M – $2.4M</a:t>
            </a:r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Estimated Annual Savings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134" y="3786485"/>
            <a:ext cx="8026747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20% reduction in attrition across a 406-person organization at 20.7% exit rate — factoring replacement, onboarding, and lost productivity costs — delivers </a:t>
            </a:r>
            <a:pPr algn="ctr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$1.2M to $2.4M in annual savings</a:t>
            </a:r>
            <a:pPr algn="ctr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HR Analytics is not a cost center. It is the highest-ROI investment on the talent agenda.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96119" y="4135338"/>
            <a:ext cx="8151763" cy="553417"/>
          </a:xfrm>
          <a:prstGeom prst="roundRect">
            <a:avLst>
              <a:gd name="adj" fmla="val 2259"/>
            </a:avLst>
          </a:prstGeom>
          <a:solidFill>
            <a:srgbClr val="5F5153"/>
          </a:solidFill>
          <a:ln/>
        </p:spPr>
      </p:sp>
      <p:sp>
        <p:nvSpPr>
          <p:cNvPr id="26" name="Shape 24"/>
          <p:cNvSpPr/>
          <p:nvPr/>
        </p:nvSpPr>
        <p:spPr>
          <a:xfrm>
            <a:off x="496119" y="4135338"/>
            <a:ext cx="2717229" cy="553417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27" name="Text 25"/>
          <p:cNvSpPr/>
          <p:nvPr/>
        </p:nvSpPr>
        <p:spPr>
          <a:xfrm>
            <a:off x="579462" y="4218682"/>
            <a:ext cx="255054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Next Step: Pilot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9462" y="4382467"/>
            <a:ext cx="2550542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dashboard in Administration and Sales first — highest ROI departments for rapid proof of value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213348" y="4135338"/>
            <a:ext cx="2717229" cy="553417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30" name="Shape 28"/>
          <p:cNvSpPr/>
          <p:nvPr/>
        </p:nvSpPr>
        <p:spPr>
          <a:xfrm>
            <a:off x="3213348" y="4135338"/>
            <a:ext cx="9525" cy="553417"/>
          </a:xfrm>
          <a:prstGeom prst="roundRect">
            <a:avLst>
              <a:gd name="adj" fmla="val 131250"/>
            </a:avLst>
          </a:prstGeom>
          <a:solidFill>
            <a:srgbClr val="786A6C"/>
          </a:solidFill>
          <a:ln/>
        </p:spPr>
      </p:sp>
      <p:sp>
        <p:nvSpPr>
          <p:cNvPr id="31" name="Text 29"/>
          <p:cNvSpPr/>
          <p:nvPr/>
        </p:nvSpPr>
        <p:spPr>
          <a:xfrm>
            <a:off x="3296692" y="4218682"/>
            <a:ext cx="255054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Next Step: Measure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6692" y="4382467"/>
            <a:ext cx="2550542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Baseline current attrition KPIs and track 90-day movement against retention program milestones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930578" y="4135338"/>
            <a:ext cx="2717229" cy="553417"/>
          </a:xfrm>
          <a:prstGeom prst="rect">
            <a:avLst/>
          </a:prstGeom>
          <a:solidFill>
            <a:srgbClr val="5F5153"/>
          </a:solidFill>
          <a:ln/>
        </p:spPr>
      </p:sp>
      <p:sp>
        <p:nvSpPr>
          <p:cNvPr id="34" name="Shape 32"/>
          <p:cNvSpPr/>
          <p:nvPr/>
        </p:nvSpPr>
        <p:spPr>
          <a:xfrm>
            <a:off x="5930578" y="4135338"/>
            <a:ext cx="9525" cy="553417"/>
          </a:xfrm>
          <a:prstGeom prst="roundRect">
            <a:avLst>
              <a:gd name="adj" fmla="val 131250"/>
            </a:avLst>
          </a:prstGeom>
          <a:solidFill>
            <a:srgbClr val="786A6C"/>
          </a:solidFill>
          <a:ln/>
        </p:spPr>
      </p:sp>
      <p:sp>
        <p:nvSpPr>
          <p:cNvPr id="35" name="Text 33"/>
          <p:cNvSpPr/>
          <p:nvPr/>
        </p:nvSpPr>
        <p:spPr>
          <a:xfrm>
            <a:off x="6013921" y="4218682"/>
            <a:ext cx="255054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Next Step: Scale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13921" y="4382467"/>
            <a:ext cx="2550542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Expand predictive attrition scoring org-wide by Q3 — full ML integration with Power BI live refresh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2026-07-22T10:27:40Z</dcterms:created>
  <dcterms:modified xsi:type="dcterms:W3CDTF">2026-07-22T10:27:40Z</dcterms:modified>
</cp:coreProperties>
</file>